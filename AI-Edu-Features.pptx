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AI-Edu est une plateforme d'apprentissage gamifiée développée en collaboration avec la CNIL, destinée aux collégiens, lycéens et enseignants.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4C1FD4">
              <a:alpha val="85000"/>
            </a:srgbClr>
          </a:solidFill>
          <a:ln w="12700">
            <a:solidFill>
              <a:srgbClr val="4C1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-731520"/>
            <a:ext cx="3200400" cy="3200400"/>
          </a:xfrm>
          <a:prstGeom prst="ellipse">
            <a:avLst/>
          </a:prstGeom>
          <a:solidFill>
            <a:srgbClr val="7B52F0">
              <a:alpha val="25000"/>
            </a:srgbClr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2286000" cy="22860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011680" cy="320040"/>
          </a:xfrm>
          <a:prstGeom prst="roundRect">
            <a:avLst>
              <a:gd name="adj" fmla="val 42857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académique · CNIL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AI·Edu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gamifiée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apprendre l'IA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1148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Enseigner l'utilisation des IA et leurs risques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collégiens, lycéens et enseignants.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188720"/>
            <a:ext cx="3657600" cy="1005840"/>
          </a:xfrm>
          <a:prstGeom prst="roundRect">
            <a:avLst>
              <a:gd name="adj" fmla="val 10909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57800" y="12618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0" y="2423160"/>
            <a:ext cx="3657600" cy="1005840"/>
          </a:xfrm>
          <a:prstGeom prst="roundRect">
            <a:avLst>
              <a:gd name="adj" fmla="val 10909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57800" y="249631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636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blocs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0" y="3657600"/>
            <a:ext cx="3657600" cy="1005840"/>
          </a:xfrm>
          <a:prstGeom prst="roundRect">
            <a:avLst>
              <a:gd name="adj" fmla="val 10909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37307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636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utilisateurs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 — 4 modules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progression structurée, du théorique au pratique.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371600"/>
            <a:ext cx="502920" cy="502920"/>
          </a:xfrm>
          <a:prstGeom prst="ellipse">
            <a:avLst/>
          </a:prstGeom>
          <a:solidFill>
            <a:srgbClr val="7B52F0">
              <a:alpha val="80000"/>
            </a:srgbClr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44752"/>
            <a:ext cx="1188720" cy="237744"/>
          </a:xfrm>
          <a:prstGeom prst="roundRect">
            <a:avLst>
              <a:gd name="adj" fmla="val 46154"/>
            </a:avLst>
          </a:prstGeom>
          <a:solidFill>
            <a:srgbClr val="7B52F0">
              <a:alpha val="30000"/>
            </a:srgbClr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44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Théorique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structurés niveaux / paliers, quiz, textes à trous, histoires illustrées.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12344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1371600"/>
            <a:ext cx="502920" cy="50292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1444752"/>
            <a:ext cx="1188720" cy="237744"/>
          </a:xfrm>
          <a:prstGeom prst="roundRect">
            <a:avLst>
              <a:gd name="adj" fmla="val 46154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444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7180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✍️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514600" y="2651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Atelier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14600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L'élève rédige un prompt sur un sujet donné — scoring en 3 étapes par Mistral AI.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344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1371600"/>
            <a:ext cx="502920" cy="50292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1444752"/>
            <a:ext cx="1188720" cy="237744"/>
          </a:xfrm>
          <a:prstGeom prst="roundRect">
            <a:avLst>
              <a:gd name="adj" fmla="val 46154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444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6636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709160" y="2651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Sable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IA libre avec modération automatique et rate-limiting (10 msg/min).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12280" y="12344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22008" y="1371600"/>
            <a:ext cx="502920" cy="502920"/>
          </a:xfrm>
          <a:prstGeom prst="ellipse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200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98080" y="1444752"/>
            <a:ext cx="1188720" cy="237744"/>
          </a:xfrm>
          <a:prstGeom prst="roundRect">
            <a:avLst>
              <a:gd name="adj" fmla="val 46154"/>
            </a:avLst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1444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6092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903720" y="2651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Sur-Mesure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03720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d'intérêt + niveau → 6 chapitres personnalisés générés par l'IA.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3931920" cy="4754880"/>
          </a:xfrm>
          <a:prstGeom prst="roundRect">
            <a:avLst>
              <a:gd name="adj" fmla="val 3256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65760" y="347472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7B52F0"/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47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Sans 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Théorique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progressifs organisés en niveaux et paliers. Chaque leçon combine différents types de blocs pédagogiques.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disponibles (MVP)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31546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272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IA 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34290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fonctionne un LLM 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37033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75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hallucinations de l'IA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977640"/>
            <a:ext cx="164592" cy="164592"/>
          </a:xfrm>
          <a:prstGeom prst="ellipse">
            <a:avLst/>
          </a:prstGeom>
          <a:solidFill>
            <a:srgbClr val="7B52F0"/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50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biais algorithmiques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4251960"/>
            <a:ext cx="164592" cy="164592"/>
          </a:xfrm>
          <a:prstGeom prst="ellipse">
            <a:avLst/>
          </a:prstGeom>
          <a:solidFill>
            <a:srgbClr val="7B52F0"/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24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et données personnelles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4526280"/>
            <a:ext cx="164592" cy="164592"/>
          </a:xfrm>
          <a:prstGeom prst="ellipse">
            <a:avLst/>
          </a:prstGeom>
          <a:solidFill>
            <a:srgbClr val="7B52F0"/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98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environnemental de l'IA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56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de blocs pédagogiques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480560" y="77724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90288" y="978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90288" y="1527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90288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théorique formaté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77724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30568" y="978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30568" y="1527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30568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avec explication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224028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90288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🔳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590288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à trous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90288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Complétion guidée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224028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30568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830568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30568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+ morale révélée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80560" y="370332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9028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4590288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90288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contextuel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20840" y="370332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3056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830568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prompting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30568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intégré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Mistral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Atelier Prompting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L'élève reçoit un sujet, rédige un prompt et obtient un score détaillé en 3 dimensions.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2103120"/>
            <a:ext cx="548640" cy="54864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78992" y="2039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donné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24048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thème est proposé à l'élève (ex: "Explique les biais IA à un ami")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2395728"/>
            <a:ext cx="128016" cy="16459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783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2103120"/>
            <a:ext cx="548640" cy="54864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50792" y="2039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50792" y="24048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L'élève compose son prompt librement dans l'éditeur intégré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395728"/>
            <a:ext cx="128016" cy="16459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783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82512" y="2103120"/>
            <a:ext cx="548640" cy="54864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22592" y="2039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IA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22592" y="24048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analyse et retourne un JSON structuré avec scores et feedback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337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Critères de scoring (0–100)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931920"/>
            <a:ext cx="640080" cy="256032"/>
          </a:xfrm>
          <a:prstGeom prst="roundRect">
            <a:avLst>
              <a:gd name="adj" fmla="val 42857"/>
            </a:avLst>
          </a:prstGeom>
          <a:solidFill>
            <a:srgbClr val="7B52F0">
              <a:alpha val="80000"/>
            </a:srgbClr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31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" y="38770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Clarté, contexte, objectif, contraintes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3767328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0" y="3931920"/>
            <a:ext cx="640080" cy="256032"/>
          </a:xfrm>
          <a:prstGeom prst="roundRect">
            <a:avLst>
              <a:gd name="adj" fmla="val 42857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931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0" y="38770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perso.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328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PII dans le prompt — vérification CNIL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3767328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3931920"/>
            <a:ext cx="640080" cy="256032"/>
          </a:xfrm>
          <a:prstGeom prst="roundRect">
            <a:avLst>
              <a:gd name="adj" fmla="val 42857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931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pts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86600" y="38770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 sortie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5508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demandé, longueur précisée, cohérence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IA — Chat libre &amp; Cours personnalisés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822960"/>
            <a:ext cx="4160520" cy="4114800"/>
          </a:xfrm>
          <a:prstGeom prst="roundRect">
            <a:avLst>
              <a:gd name="adj" fmla="val 266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969264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69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Mistral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353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Bac à Sable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1901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IA libre à visée pédagogique. Al-Ko prépare l'arène — fonctionnalité à venir (MVP).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Modération automatique par Mistral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: 10 messages / minute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3009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chiffré AES-256 (TTL 30j)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484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pédagogique (collégiens/lycéens)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9684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995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quotidien récompensé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822960"/>
            <a:ext cx="4160520" cy="4114800"/>
          </a:xfrm>
          <a:prstGeom prst="roundRect">
            <a:avLst>
              <a:gd name="adj" fmla="val 266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0328" y="969264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969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Mistral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0328" y="1353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Cours Sur-Mesure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10328" y="19019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L'élève choisit un thème (football, musique, cuisine…) et son niveau. L'IA génère un parcours de 6 chapitres personnalisés.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0328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chapitres fixes 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0328" y="292608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2971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Comprendre l'IA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22008" y="292608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2971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Bon prompting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10328" y="3401568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34472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Atelier prompting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22008" y="3401568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13448" y="34472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Sécurité &amp; données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10328" y="3877056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39227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Impact environnemental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22008" y="3877056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13448" y="39227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Éthique &amp; usages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10328" y="4315968"/>
            <a:ext cx="3749040" cy="384048"/>
          </a:xfrm>
          <a:prstGeom prst="roundRect">
            <a:avLst>
              <a:gd name="adj" fmla="val 23810"/>
            </a:avLst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3525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Réponses Mistral validées par schéma Zod + retry automatique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de progression &amp; Al-Ko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37160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15727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20624" y="2267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 &amp; Niveaux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614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73405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gagnés à chaque leçon, quiz et défi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05409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30266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XP = 1 niveau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46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3192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 animé avec Framer Motion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27832" y="137160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92424" y="15727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92424" y="2267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Série quotidienne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29000" y="27614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273405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incrémenté chaque jour actif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0" y="30540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6744" y="30266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Réinitialisation si jour sauté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29000" y="334670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33192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série mémorisée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9632" y="137160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64224" y="15727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🎊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364224" y="2267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5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Récompenses visuelles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0" y="2761488"/>
            <a:ext cx="164592" cy="164592"/>
          </a:xfrm>
          <a:prstGeom prst="ellipse">
            <a:avLst/>
          </a:prstGeom>
          <a:solidFill>
            <a:srgbClr val="7B52F0"/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273405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Confetti canvas plein écran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3054096"/>
            <a:ext cx="164592" cy="164592"/>
          </a:xfrm>
          <a:prstGeom prst="ellipse">
            <a:avLst/>
          </a:prstGeom>
          <a:solidFill>
            <a:srgbClr val="7B52F0"/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8544" y="30266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 Web Audio API synthesisés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3346704"/>
            <a:ext cx="164592" cy="164592"/>
          </a:xfrm>
          <a:prstGeom prst="ellipse">
            <a:avLst/>
          </a:prstGeom>
          <a:solidFill>
            <a:srgbClr val="7B52F0"/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33192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Particles animées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3822192"/>
            <a:ext cx="8641080" cy="1115568"/>
          </a:xfrm>
          <a:prstGeom prst="roundRect">
            <a:avLst>
              <a:gd name="adj" fmla="val 9836"/>
            </a:avLst>
          </a:prstGeom>
          <a:solidFill>
            <a:srgbClr val="1E1A38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4048" y="3913632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🤖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1188720" y="39136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Al-Ko — Mascotte interactive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188720" y="437997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26464" y="43342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SVG vert animé (Framer Motion)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703320" y="437997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1064" y="43342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variants : wave, celebrate, idle, sad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437997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55664" y="43342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expressions faciales : 👍 😬 😂 😎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188720" y="46360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26464" y="45902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 de tips IA / RGPD / motivation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703320" y="46360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1064" y="45902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 dans dashboard, sidebar, modules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B1A"/>
          </a:solidFill>
          <a:ln w="12700">
            <a:solidFill>
              <a:srgbClr val="0D0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Non-négociable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CNIL &amp; RGPD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 mineurs dès 11 ans — toutes les règles ci-dessous sont obligatoires.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60020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764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PII dans les prompts LLM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679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avant tout appel Mistral AI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32304" y="160020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42032" y="1764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42032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Zero-retention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42032" y="2679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X-No-Cache sur tous les appels LLM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160020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8304" y="1764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#️⃣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18304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hashée SHA-256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18304" y="2679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jamais stockée — uniquement son hash dans audit_logs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84848" y="160020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94576" y="1764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👨‍👩‍👧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94576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parental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94576" y="2679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si âge &lt; 15 ans (Art. 8 RGPD + loi I&amp;L)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3227832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" y="3913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à l'effacement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" y="43068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/users/:id cascade sur toutes les tables liées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32304" y="3227832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42032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542032" y="3913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global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42032" y="43068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AuditInterceptor sur toutes les mutations — obligatoire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08576" y="3227832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18304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🍪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718304" y="3913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tiers interdits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18304" y="43068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Redis uniquement — zéro cookie tiers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84848" y="3227832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94576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🇪🇺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94576" y="3913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EU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94576" y="43068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eu-west-1 (MVP) → OVHcloud / Hetzner (prod)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7B52F0"/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399032"/>
            <a:ext cx="1051560" cy="320040"/>
          </a:xfrm>
          <a:prstGeom prst="roundRect">
            <a:avLst>
              <a:gd name="adj" fmla="val 28571"/>
            </a:avLst>
          </a:prstGeom>
          <a:solidFill>
            <a:srgbClr val="7B52F0">
              <a:alpha val="25000"/>
            </a:srgbClr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9903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36192" y="1399032"/>
            <a:ext cx="2834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Turborepo + pnpm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90872" y="1234440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399032"/>
            <a:ext cx="1051560" cy="320040"/>
          </a:xfrm>
          <a:prstGeom prst="roundRect">
            <a:avLst>
              <a:gd name="adj" fmla="val 28571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39903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71032" y="1399032"/>
            <a:ext cx="2834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App Router + TypeScript strict + Tailwind v4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002536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3192" y="2167128"/>
            <a:ext cx="1051560" cy="320040"/>
          </a:xfrm>
          <a:prstGeom prst="roundRect">
            <a:avLst>
              <a:gd name="adj" fmla="val 28571"/>
            </a:avLst>
          </a:prstGeom>
          <a:solidFill>
            <a:srgbClr val="7B52F0">
              <a:alpha val="25000"/>
            </a:srgbClr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1671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36192" y="2167128"/>
            <a:ext cx="2834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+ Radix UI + Framer Motion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90872" y="2002536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28032" y="2167128"/>
            <a:ext cx="1051560" cy="320040"/>
          </a:xfrm>
          <a:prstGeom prst="roundRect">
            <a:avLst>
              <a:gd name="adj" fmla="val 28571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1671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71032" y="2167128"/>
            <a:ext cx="2834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TypeScript strict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770632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" y="2935224"/>
            <a:ext cx="1051560" cy="320040"/>
          </a:xfrm>
          <a:prstGeom prst="roundRect">
            <a:avLst>
              <a:gd name="adj" fmla="val 28571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93522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36192" y="2935224"/>
            <a:ext cx="2834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v5 + Google OAuth + JWT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90872" y="2770632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28032" y="2935224"/>
            <a:ext cx="1051560" cy="320040"/>
          </a:xfrm>
          <a:prstGeom prst="roundRect">
            <a:avLst>
              <a:gd name="adj" fmla="val 28571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93522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71032" y="2935224"/>
            <a:ext cx="2834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(Docker local) → Supabase EU prod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538728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93192" y="3703320"/>
            <a:ext cx="1051560" cy="320040"/>
          </a:xfrm>
          <a:prstGeom prst="roundRect">
            <a:avLst>
              <a:gd name="adj" fmla="val 28571"/>
            </a:avLst>
          </a:prstGeom>
          <a:solidFill>
            <a:srgbClr val="7B52F0">
              <a:alpha val="25000"/>
            </a:srgbClr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536192" y="3703320"/>
            <a:ext cx="2834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90872" y="3538728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28032" y="3703320"/>
            <a:ext cx="1051560" cy="320040"/>
          </a:xfrm>
          <a:prstGeom prst="roundRect">
            <a:avLst>
              <a:gd name="adj" fmla="val 28571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71032" y="3703320"/>
            <a:ext cx="2834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mistral-small-latest (Provider Pattern)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" y="4306824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93192" y="4471416"/>
            <a:ext cx="1051560" cy="320040"/>
          </a:xfrm>
          <a:prstGeom prst="roundRect">
            <a:avLst>
              <a:gd name="adj" fmla="val 28571"/>
            </a:avLst>
          </a:prstGeom>
          <a:solidFill>
            <a:srgbClr val="9B8FCC">
              <a:alpha val="25000"/>
            </a:srgbClr>
          </a:solidFill>
          <a:ln w="12700">
            <a:solidFill>
              <a:srgbClr val="9B8F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447141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536192" y="4471416"/>
            <a:ext cx="2834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(lint · type-check · test · build)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" y="4663440"/>
            <a:ext cx="8641080" cy="347472"/>
          </a:xfrm>
          <a:prstGeom prst="roundRect">
            <a:avLst>
              <a:gd name="adj" fmla="val 26316"/>
            </a:avLst>
          </a:prstGeom>
          <a:solidFill>
            <a:srgbClr val="EC4899">
              <a:alpha val="1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7000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Provider Pattern (AI_PROVIDER token) : swap de LLM en une ligne dans les services NestJS — sauf 2 route handlers Next.js qui appellent Mistral en fetch direct.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7B52F0"/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Authentification &amp; Profils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de connexion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627632"/>
            <a:ext cx="4160520" cy="749808"/>
          </a:xfrm>
          <a:prstGeom prst="roundRect">
            <a:avLst>
              <a:gd name="adj" fmla="val 14634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773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Mot de passe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29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avec rôle + année de naissance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2542032"/>
            <a:ext cx="4160520" cy="749808"/>
          </a:xfrm>
          <a:prstGeom prst="roundRect">
            <a:avLst>
              <a:gd name="adj" fmla="val 14634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0120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944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v5 — connexion one-click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utilisateurs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397764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collégien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00784" y="397764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7B52F0">
              <a:alpha val="25000"/>
            </a:srgbClr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0784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lycéen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45536" y="3977640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4453128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44531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00784" y="4453128"/>
            <a:ext cx="1325880" cy="347472"/>
          </a:xfrm>
          <a:prstGeom prst="roundRect">
            <a:avLst>
              <a:gd name="adj" fmla="val 39474"/>
            </a:avLst>
          </a:prstGeom>
          <a:solidFill>
            <a:srgbClr val="9B8FCC">
              <a:alpha val="25000"/>
            </a:srgbClr>
          </a:solidFill>
          <a:ln w="12700">
            <a:solidFill>
              <a:srgbClr val="9B8F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0784" y="44531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234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5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principales en base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627632"/>
            <a:ext cx="4224528" cy="475488"/>
          </a:xfrm>
          <a:prstGeom prst="roundRect">
            <a:avLst>
              <a:gd name="adj" fmla="val 2307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91456" y="16824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1682496"/>
            <a:ext cx="22860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role, birth_year, consent, parental_consent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4224528" cy="475488"/>
          </a:xfrm>
          <a:prstGeom prst="roundRect">
            <a:avLst>
              <a:gd name="adj" fmla="val 2307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91456" y="2249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2249424"/>
            <a:ext cx="22860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content_blocks JSONB, xp_reward, level, tier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761488"/>
            <a:ext cx="4224528" cy="475488"/>
          </a:xfrm>
          <a:prstGeom prst="roundRect">
            <a:avLst>
              <a:gd name="adj" fmla="val 2307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91456" y="2816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user_progress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2816352"/>
            <a:ext cx="22860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score, xp_earned, streak_count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328416"/>
            <a:ext cx="4224528" cy="475488"/>
          </a:xfrm>
          <a:prstGeom prst="roundRect">
            <a:avLst>
              <a:gd name="adj" fmla="val 2307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91456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custom_course_parcours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3383280"/>
            <a:ext cx="22860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level, chapters (eager), expires_at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895344"/>
            <a:ext cx="4224528" cy="475488"/>
          </a:xfrm>
          <a:prstGeom prst="roundRect">
            <a:avLst>
              <a:gd name="adj" fmla="val 2307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91456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sandbox_sessions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3950208"/>
            <a:ext cx="22860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JSONB chiffré AES-256, TTL 30 jours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4462272"/>
            <a:ext cx="4224528" cy="475488"/>
          </a:xfrm>
          <a:prstGeom prst="roundRect">
            <a:avLst>
              <a:gd name="adj" fmla="val 23077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91456" y="4517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4517136"/>
            <a:ext cx="22860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resource, ip_hash SHA-256, created_at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4C1FD4">
              <a:alpha val="88000"/>
            </a:srgbClr>
          </a:solidFill>
          <a:ln w="12700">
            <a:solidFill>
              <a:srgbClr val="4C1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3657600" cy="3657600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7B52F0"/>
          </a:solidFill>
          <a:ln w="12700">
            <a:solidFill>
              <a:srgbClr val="7B5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MVP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construction,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ambitions claires.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AI-Edu est développé dans un cadre académique en collaboration avec la CNIL. Le MVP cible collégiens, lycéens et enseignants.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8163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Parcours théorique — Opérationnel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1638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Atelier prompting — Opérationnel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5112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5295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Cours sur-mesure — Opérationnel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858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877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Bac à sable — En développement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206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224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EU prod — Planifié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4553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572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parental &lt; 15 ans — Planifié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74920" y="731520"/>
            <a:ext cx="1874520" cy="1234440"/>
          </a:xfrm>
          <a:prstGeom prst="roundRect">
            <a:avLst>
              <a:gd name="adj" fmla="val 8889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66360" y="868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B5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166360" y="1572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NestJS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731520"/>
            <a:ext cx="1874520" cy="1234440"/>
          </a:xfrm>
          <a:prstGeom prst="roundRect">
            <a:avLst>
              <a:gd name="adj" fmla="val 8889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868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7223760" y="1572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blocs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2148840"/>
            <a:ext cx="1874520" cy="1234440"/>
          </a:xfrm>
          <a:prstGeom prst="roundRect">
            <a:avLst>
              <a:gd name="adj" fmla="val 8889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66360" y="22860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5166360" y="29900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CNIL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0" y="2148840"/>
            <a:ext cx="1874520" cy="1234440"/>
          </a:xfrm>
          <a:prstGeom prst="roundRect">
            <a:avLst>
              <a:gd name="adj" fmla="val 8889"/>
            </a:avLst>
          </a:prstGeom>
          <a:solidFill>
            <a:srgbClr val="16132B"/>
          </a:solidFill>
          <a:ln w="12700">
            <a:solidFill>
              <a:srgbClr val="2A2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23760" y="22860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7223760" y="29900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/ niveau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74920" y="3657600"/>
            <a:ext cx="3840480" cy="777240"/>
          </a:xfrm>
          <a:prstGeom prst="roundRect">
            <a:avLst>
              <a:gd name="adj" fmla="val 16471"/>
            </a:avLst>
          </a:prstGeom>
          <a:solidFill>
            <a:srgbClr val="4C1FD4"/>
          </a:solidFill>
          <a:ln w="12700">
            <a:solidFill>
              <a:srgbClr val="7B52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74920" y="3657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github.com/MEPA — Projet académique CNIL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AI-Edu — Présentation des fonctionnalités</dc:title>
  <dc:subject>PptxGenJS Presentation</dc:subject>
  <dc:creator>PptxGenJS</dc:creator>
  <cp:lastModifiedBy>PptxGenJS</cp:lastModifiedBy>
  <cp:revision>1</cp:revision>
  <dcterms:created xsi:type="dcterms:W3CDTF">2026-06-25T19:39:03Z</dcterms:created>
  <dcterms:modified xsi:type="dcterms:W3CDTF">2026-06-25T19:39:03Z</dcterms:modified>
</cp:coreProperties>
</file>